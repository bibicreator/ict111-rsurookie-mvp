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4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5.xml" ContentType="application/vnd.openxmlformats-officedocument.presentationml.notesSlide+xml"/>
  <Override PartName="/ppt/ink/ink12.xml" ContentType="application/inkml+xml"/>
  <Override PartName="/ppt/notesSlides/notesSlide6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7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8.xml" ContentType="application/vnd.openxmlformats-officedocument.presentationml.notesSlide+xml"/>
  <Override PartName="/ppt/ink/ink19.xml" ContentType="application/inkml+xml"/>
  <Override PartName="/ppt/notesSlides/notesSlide9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DM Sans" pitchFamily="2" charset="0"/>
      <p:regular r:id="rId13"/>
    </p:embeddedFont>
    <p:embeddedFont>
      <p:font typeface="DM Sans Bold" panose="020B0604020202020204" charset="0"/>
      <p:regular r:id="rId14"/>
    </p:embeddedFont>
    <p:embeddedFont>
      <p:font typeface="Libre Baskerville" panose="02000000000000000000" pitchFamily="2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09:34.4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24571,'0'456'0,"2740"-456"0,-2740-456 0,-2740 456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09:39.5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41 1 24575,'-40'164'0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0:03.2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0 291 24575,'91'-3'0,"0"-4"0,-1-4 0,106-26 0,255-92 0,-414 117 0,1 3 0,0 1 0,0 2 0,1 1 0,61 1 0,-85 5 0,36-2 0,-48 1 0,0 0 0,0-1 0,0 1 0,0-1 0,0 0 0,0 0 0,0 0 0,0 0 0,-1 0 0,1-1 0,0 1 0,-1-1 0,3-2 0,-5 4 0,1-1 0,-1 1 0,0 0 0,0-1 0,0 1 0,0 0 0,0-1 0,1 1 0,-1 0 0,0-1 0,0 1 0,0 0 0,0-1 0,0 1 0,0 0 0,0-1 0,0 1 0,0 0 0,0-1 0,-1 1 0,1 0 0,0-1 0,0 1 0,0 0 0,0-1 0,0 1 0,-1 0 0,1-1 0,0 1 0,0 0 0,0 0 0,-1-1 0,1 1 0,0 0 0,0 0 0,-1 0 0,1-1 0,0 1 0,-1 0 0,1 0 0,0 0 0,-1 0 0,1 0 0,0-1 0,-1 1 0,1 0 0,0 0 0,-1 0 0,1 0 0,0 0 0,-1 0 0,1 0 0,0 0 0,-1 0 0,-22-4 0,23 4 0,-17-2 0,1 1 0,-1 1 0,0 0 0,0 2 0,0 0 0,0 0 0,1 2 0,-31 9 0,7-1 0,-1-3 0,0-1 0,0-2 0,0-2 0,-1-2 0,-48-3 0,-125 13 0,137-5 0,32-3 0,11 0 0,0-2 0,-41-3 0,-160-24 0,204 18 0,20 1 0,12 6 0,0 0 0,0 0 0,0 0 0,0-1 0,-1 1 0,1 0 0,0 0 0,0 0 0,0 0 0,0-1 0,0 1 0,0 0 0,0 0 0,0 0 0,0 0 0,0-1 0,1 1 0,-1 0 0,0 0 0,0 0 0,0 0 0,0 0 0,0-1 0,0 1 0,0 0 0,0 0 0,0 0 0,0 0 0,1 0 0,-1 0 0,0-1 0,0 1 0,0 0 0,0 0 0,0 0 0,0 0 0,1 0 0,-1 0 0,0 0 0,0 0 0,0 0 0,0 0 0,1 0 0,-1 0 0,0 0 0,0 0 0,0 0 0,0 0 0,1 0 0,-1 0 0,0 0 0,0 0 0,0 0 0,0 0 0,0 0 0,1 0 0,26-5 0,0 2 0,1 1 0,-1 1 0,34 3 0,-2-1 0,78 1 0,159-5 0,-128-24 0,-4 0 0,341 19 0,-289 10 0,682-2 0,-885 2 0,-1 0 0,0 1 0,0 1 0,0 0 0,-1 0 0,1 1 0,-1 1 0,0-1 0,16 13 0,-19-13 0,-4-2 0,0 0 0,0 1 0,-1-1 0,1 1 0,-1 0 0,1 0 0,-1 0 0,-1 1 0,1-1 0,0 1 0,-1-1 0,0 1 0,0 0 0,-1 0 0,1 0 0,-1 0 0,0 0 0,0 0 0,-1 0 0,0 10 0,1-10 0,-1-1 0,-1 0 0,1 0 0,-1 1 0,1-1 0,-1 0 0,0 0 0,-1 0 0,1 0 0,-1 0 0,1 0 0,-1 0 0,-1 0 0,1-1 0,0 1 0,-1-1 0,0 1 0,0-1 0,0 0 0,0 0 0,0-1 0,0 1 0,-1-1 0,0 1 0,-6 2 0,-4 0 0,0-1 0,0-1 0,0 0 0,0-1 0,-19 0 0,-76-3 0,54-1 0,-996-3 0,837 5 0,36 13 0,80-4 0,81-7 0,-1 1 0,1 1 0,0 1 0,-18 7 0,-40 11 0,-64-3 249,103-17-518,-1 1 0,1 2 0,0 2 0,1 1 0,-58 24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0:42.9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0 199 24575,'40'-3'0,"-1"-1"0,0-2 0,75-22 0,6-1 0,-41 13 0,137-20 0,-30 7 0,-7 0 0,-81 24 285,-53 4-1110,74-12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0:44.1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87 24575,'6'-1'0,"1"0"0,-1 0 0,0-1 0,1 1 0,-1-1 0,0-1 0,0 1 0,8-5 0,27-10 0,10 4 0,2 2 0,105-8 0,111 13 0,-207 6 0,1502 3-1365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0:45.7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86 24575,'2'-1'0,"1"-1"0,-1 1 0,1-1 0,0 1 0,0 0 0,0 0 0,0 0 0,0 1 0,0-1 0,0 1 0,0 0 0,5 0 0,1-1 0,132-13 0,155-22 0,-220 25 0,107-1 0,80 13 0,-112 1 0,662-1-1365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1:11.4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2 189 24575,'0'-3'0,"-1"1"0,1-1 0,0 0 0,0 0 0,0 1 0,0-1 0,1 0 0,-1 1 0,1-1 0,-1 0 0,1 1 0,0-1 0,0 1 0,0-1 0,1 1 0,-1-1 0,0 1 0,1 0 0,0 0 0,-1 0 0,1 0 0,0 0 0,0 0 0,0 0 0,0 1 0,1-1 0,-1 0 0,0 1 0,1 0 0,-1 0 0,1 0 0,-1 0 0,1 0 0,3 0 0,61-22 0,137-41 0,-167 55 0,1 2 0,0 1 0,64 0 0,1166 10 0,-1261-4 0,1 1 0,0-1 0,0 1 0,-1 1 0,1-1 0,-1 1 0,1 1 0,-1-1 0,14 8 0,-18-8 0,1 0 0,-1 0 0,0 1 0,0-1 0,0 1 0,0 0 0,-1 0 0,1 0 0,-1 0 0,1 0 0,-1 1 0,0-1 0,-1 0 0,1 1 0,0 0 0,-1-1 0,0 1 0,0 0 0,0 0 0,0 0 0,0 5 0,-2-6 0,1 0 0,0 0 0,-1 0 0,1 0 0,-1 0 0,0-1 0,0 1 0,0 0 0,0 0 0,-1 0 0,1-1 0,-1 1 0,0-1 0,1 1 0,-1-1 0,0 0 0,0 0 0,-1 0 0,1 0 0,0 0 0,-1 0 0,1 0 0,-6 2 0,-4 2 0,-1 1 0,0-2 0,-24 8 0,-5-2 0,0-2 0,-70 7 0,-91-6 0,91-6 0,-608 4 0,425-10 0,182 2-1365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1:40.4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23892,'1395'0'0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1:44.1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1 126 24575,'353'21'0,"-71"-2"0,2-17 0,299-37 0,-518 30 0,-26 2 0,0-1 0,0-2 0,41-13 0,24-18 0,-77 26 0,1 0 0,0 2 0,1 1 0,0 1 0,58-5 0,133 13-1365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1:45.8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0 102 24450,'1680'-102'0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1:48.7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7 24575,'18'4'0,"19"0"0,24 1 0,20-2 0,-1 0 0,-11 2 0,-16 4 0,-18-3 0,-15-7 0,-7-5 0,-2-3 0,0-3 0,-1-6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2:00.2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0 209 24575,'24'-10'0,"0"0"0,0 2 0,0 0 0,1 2 0,35-5 0,53 0 0,25-5 0,-52 5 0,0 3 0,100 3 0,-143 3 0,0-3 0,0-1 0,-1-2 0,54-18 0,21-5 0,-57 21 0,-1 2 0,76-1 0,122 13 0,-230-3 0,107 9 0,26 0 0,-129-8 0,1 2 0,-1 1 0,48 15 0,-41-10 0,68 9 0,-28-17 0,-61-3 0,0 0 0,0 2 0,0 0 0,-1 1 0,1 1 0,18 5 0,-32-7 0,0 0 0,0 1 0,0 0 0,0-1 0,-1 1 0,1 0 0,0 1 0,-1-1 0,0 0 0,1 1 0,-1-1 0,0 1 0,0 0 0,0-1 0,-1 1 0,1 0 0,-1 0 0,0 0 0,1 0 0,-1 1 0,0-1 0,0 5 0,1 7 0,0 0 0,-2 0 0,-1 26 0,1-22 0,-1-2 0,1-1 0,-2 1 0,0-1 0,-1 0 0,-10 30 0,11-40 0,0-1 0,-1 0 0,1 0 0,-1 0 0,0 0 0,-1-1 0,1 1 0,-1-1 0,0 0 0,0 0 0,0 0 0,-1 0 0,1-1 0,-1 0 0,0 0 0,0 0 0,0 0 0,0-1 0,0 0 0,-11 3 0,-10-1 0,0-1 0,-1-1 0,1-1 0,-1-1 0,-40-6 0,-30-1 0,-793 6 0,442 3 0,398-5 0,0-2 0,0-2 0,-54-15 0,43 9 0,11 5 0,-1 3 0,1 3 0,-62 3 0,102 0 0,485-2 0,-207 3 0,-244-4 0,0 0 0,0-2 0,33-9 0,40-7 0,127-20 0,-191 35-1365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2:13.7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254 1 24566,'-253'139'0,"2498"-139"0,-2499-139 0,-1484 139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2:20.5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0 557 24561,'2316'-389'0,"-2866"221"0,1100 336 0,-1015 171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2:36.6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1034 1 24575,'-1'2'0,"-1"0"0,1 0 0,-1 0 0,1 0 0,0 0 0,0 1 0,0-1 0,0 0 0,0 1 0,0-1 0,1 1 0,-1-1 0,1 1 0,0-1 0,0 1 0,-1-1 0,2 1 0,-1-1 0,0 1 0,1 4 0,2 5 0,1 0 0,0-1 0,6 13 0,-1 0 0,-3-7 0,-1 0 0,0 0 0,-1 0 0,-1 1 0,-1 0 0,-1-1 0,0 1 0,-1 0 0,-4 29 0,4-44 0,-1-1 0,1 0 0,-1 1 0,0-1 0,0 1 0,0-1 0,0 0 0,0 0 0,0 1 0,-1-1 0,1 0 0,-1 0 0,1 0 0,-1-1 0,0 1 0,0 0 0,0-1 0,0 1 0,0-1 0,0 1 0,0-1 0,-1 0 0,1 0 0,0 0 0,-1 0 0,1 0 0,0-1 0,-1 1 0,1-1 0,-1 0 0,1 1 0,-1-1 0,1 0 0,-1-1 0,1 1 0,-6-1 0,-3-1 0,0-1 0,1 0 0,-1-1 0,0 0 0,1-1 0,-18-10 0,13 7 0,0 0 0,0 2 0,-1 0 0,0 0 0,0 1 0,-1 1 0,1 1 0,-1 1 0,0 0 0,1 1 0,-29 1 0,-557 4 0,592-4-170,1 0-1,-1 0 0,0-1 1,1 0-1,-1-1 0,1 0 1,-10-4-1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2:48.9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83 24286,'2621'-82'0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2:52.0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49 24489,'2521'0'0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2:59.5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24575,'37'48'0,"-31"-42"0,1 1 0,0-1 0,0-1 0,1 1 0,-1-1 0,1 0 0,0-1 0,1 0 0,-1 0 0,1-1 0,-1 0 0,1 0 0,17 2 0,11 0 0,1-1 0,38-1 0,-50-2 0,378-2 0,-155-2 0,199 3 0,-439 0 0,0-1 0,-1-1 0,1 1 0,-1-2 0,11-3 0,-10 3 0,0 1 0,-1-1 0,2 1 0,-1 1 0,11-1 0,361 8 0,-287-8 215,-36 0-1005,108 10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3:10.4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24526,'61'242'0,"2486"-242"0,-2608-242 0,-2486 242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4:11.5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24532,'0'419'0,"2483"-419"0,-2483-419 0,-2483 419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0T20:14:17.9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34 24575,'0'-4'0,"0"-10"0,3 3 0,5 7 0,1 21 0,-2 14 0,-1 5 0,-2 0 0,-2-3 0,6-1 0,1 2 0,3-3 0,2-2 0,3-4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255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10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customXml" Target="../ink/ink7.xml"/><Relationship Id="rId4" Type="http://schemas.openxmlformats.org/officeDocument/2006/relationships/customXml" Target="../ink/ink4.xml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customXml" Target="../ink/ink10.xml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customXml" Target="../ink/ink9.xml"/><Relationship Id="rId5" Type="http://schemas.openxmlformats.org/officeDocument/2006/relationships/image" Target="../media/image13.svg"/><Relationship Id="rId15" Type="http://schemas.openxmlformats.org/officeDocument/2006/relationships/customXml" Target="../ink/ink11.xml"/><Relationship Id="rId10" Type="http://schemas.openxmlformats.org/officeDocument/2006/relationships/image" Target="../media/image24.png"/><Relationship Id="rId4" Type="http://schemas.openxmlformats.org/officeDocument/2006/relationships/image" Target="../media/image12.svg"/><Relationship Id="rId9" Type="http://schemas.openxmlformats.org/officeDocument/2006/relationships/customXml" Target="../ink/ink8.xml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customXml" Target="../ink/ink1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9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32.png"/><Relationship Id="rId4" Type="http://schemas.openxmlformats.org/officeDocument/2006/relationships/customXml" Target="../ink/ink13.xml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customXml" Target="../ink/ink17.xml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customXml" Target="../ink/ink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2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613023"/>
            <a:ext cx="2840385" cy="188565"/>
          </a:xfrm>
          <a:prstGeom prst="roundRect">
            <a:avLst>
              <a:gd name="adj" fmla="val 22104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999533" y="650230"/>
            <a:ext cx="314875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ICT105 · FUNDAMENTAL TECHNOLOGY ENTREPRENEURSHIP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851148"/>
            <a:ext cx="4722763" cy="534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RSU Campus Buddy</a:t>
            </a:r>
            <a:endParaRPr lang="en-US" sz="3350" dirty="0"/>
          </a:p>
        </p:txBody>
      </p:sp>
      <p:sp>
        <p:nvSpPr>
          <p:cNvPr id="6" name="Text 3"/>
          <p:cNvSpPr/>
          <p:nvPr/>
        </p:nvSpPr>
        <p:spPr>
          <a:xfrm>
            <a:off x="3925119" y="1572071"/>
            <a:ext cx="4722763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Campus Chatbot with AI Image Recognition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925119" y="2223195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Rangsit University · A capstone venture project reimagining how students and visitors navigate campus through the power of artificial intelligence.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925119" y="2759646"/>
            <a:ext cx="2299395" cy="922660"/>
          </a:xfrm>
          <a:prstGeom prst="roundRect">
            <a:avLst>
              <a:gd name="adj" fmla="val 564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053855" y="2888382"/>
            <a:ext cx="20419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Khin Zu Zu Oo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53855" y="3156645"/>
            <a:ext cx="20419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Lead &amp; Technical Lead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348487" y="2759646"/>
            <a:ext cx="2299395" cy="922660"/>
          </a:xfrm>
          <a:prstGeom prst="roundRect">
            <a:avLst>
              <a:gd name="adj" fmla="val 564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77223" y="2888382"/>
            <a:ext cx="20419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Min Khant Zaw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77223" y="3156645"/>
            <a:ext cx="20419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Documentation Lead &amp; Validation Lead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25119" y="3806279"/>
            <a:ext cx="4722763" cy="724198"/>
          </a:xfrm>
          <a:prstGeom prst="roundRect">
            <a:avLst>
              <a:gd name="adj" fmla="val 719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053855" y="3935016"/>
            <a:ext cx="44652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Phyo Min Khant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53855" y="4203278"/>
            <a:ext cx="44652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UX/UI Lead</a:t>
            </a:r>
            <a:endParaRPr lang="en-US" sz="9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34D717B-EAD5-902A-04CE-3F2FDB4932D0}"/>
                  </a:ext>
                </a:extLst>
              </p14:cNvPr>
              <p14:cNvContentPartPr/>
              <p14:nvPr/>
            </p14:nvContentPartPr>
            <p14:xfrm rot="-10800002">
              <a:off x="8057776" y="4868745"/>
              <a:ext cx="986504" cy="164484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34D717B-EAD5-902A-04CE-3F2FDB4932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-10800002">
                <a:off x="7994792" y="4805759"/>
                <a:ext cx="1112111" cy="2900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712F0E9-72EB-981E-7615-D09609DB890B}"/>
                  </a:ext>
                </a:extLst>
              </p14:cNvPr>
              <p14:cNvContentPartPr/>
              <p14:nvPr/>
            </p14:nvContentPartPr>
            <p14:xfrm>
              <a:off x="9010928" y="4881670"/>
              <a:ext cx="14760" cy="59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712F0E9-72EB-981E-7615-D09609DB890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48288" y="4818670"/>
                <a:ext cx="140400" cy="18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29419"/>
            <a:ext cx="799281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B88E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0533" y="866626"/>
            <a:ext cx="1107653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067544"/>
            <a:ext cx="8151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Campus Navigation Problems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96119" y="156366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semester, thousands of students arrive at Rangsit University unsure of where to go. Fragmented information and outdated resources create a frustrating experience that wastes time and reduces engagement.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00114"/>
            <a:ext cx="310083" cy="3100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1206" y="2100114"/>
            <a:ext cx="35332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Unidentifiable Buildings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1206" y="2368376"/>
            <a:ext cx="353325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students cannot recognize or locate campus buildings without prior knowledge or guidance from others.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2100114"/>
            <a:ext cx="310083" cy="3100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14553" y="2100114"/>
            <a:ext cx="35333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Time Lost Asking Directions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114553" y="2368376"/>
            <a:ext cx="353332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 waste valuable time asking peers or searching scattered online sources for basic location information.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13323"/>
            <a:ext cx="310083" cy="31008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1206" y="3013323"/>
            <a:ext cx="35332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Scattered Information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61206" y="3281586"/>
            <a:ext cx="353325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Campus data — facilities, clubs, office hours — is spread across multiple platforms with no unified access point.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9465" y="3013323"/>
            <a:ext cx="310083" cy="31008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14553" y="3013323"/>
            <a:ext cx="35333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Hard to Find Facilities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114553" y="3281586"/>
            <a:ext cx="353332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Locating specific offices, student clubs, and service centers remains difficult without a smart, visual guide.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96119" y="3818037"/>
            <a:ext cx="8151763" cy="495970"/>
          </a:xfrm>
          <a:prstGeom prst="roundRect">
            <a:avLst>
              <a:gd name="adj" fmla="val 10505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092" y="3997821"/>
            <a:ext cx="155004" cy="12397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9071" y="3972967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Target Users:</a:t>
            </a: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New Students · Current Students · Campus Visitors · University Staff</a:t>
            </a:r>
            <a:endParaRPr lang="en-US" sz="9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FAE6247-7CD4-210F-357B-63F9EC441659}"/>
                  </a:ext>
                </a:extLst>
              </p14:cNvPr>
              <p14:cNvContentPartPr/>
              <p14:nvPr/>
            </p14:nvContentPartPr>
            <p14:xfrm>
              <a:off x="8023088" y="4895187"/>
              <a:ext cx="1012680" cy="1526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FAE6247-7CD4-210F-357B-63F9EC44165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60088" y="4832547"/>
                <a:ext cx="1138320" cy="278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5506"/>
            <a:ext cx="1224632" cy="188565"/>
          </a:xfrm>
          <a:prstGeom prst="roundRect">
            <a:avLst>
              <a:gd name="adj" fmla="val 22104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0533" y="512713"/>
            <a:ext cx="1533004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DISCOVERY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13631"/>
            <a:ext cx="8151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Evidence from Customer Discovery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96119" y="120974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team conducted structured interviews and prototype testing to validate the problem and refine our solution. The findings confirmed strong demand for an AI-powered, photo-based campus navigation tool.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6119" y="1792709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Testing Summary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6119" y="2172593"/>
            <a:ext cx="1944960" cy="1334021"/>
          </a:xfrm>
          <a:prstGeom prst="roundRect">
            <a:avLst>
              <a:gd name="adj" fmla="val 3905"/>
            </a:avLst>
          </a:prstGeom>
          <a:solidFill>
            <a:srgbClr val="FFFDFA"/>
          </a:solidFill>
          <a:ln w="14288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4380" y="2310854"/>
            <a:ext cx="166843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 Prototype Testers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380" y="2579117"/>
            <a:ext cx="166843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Representative users from the target audience completed guided tasks.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5053" y="2172593"/>
            <a:ext cx="1944960" cy="1334021"/>
          </a:xfrm>
          <a:prstGeom prst="roundRect">
            <a:avLst>
              <a:gd name="adj" fmla="val 3905"/>
            </a:avLst>
          </a:prstGeom>
          <a:solidFill>
            <a:srgbClr val="FFFDFA"/>
          </a:solidFill>
          <a:ln w="14288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03314" y="2310854"/>
            <a:ext cx="166843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 Task Success 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03314" y="2772966"/>
            <a:ext cx="166843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testers completed core tasks without assistance or errors.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3987" y="2172593"/>
            <a:ext cx="1944960" cy="1334021"/>
          </a:xfrm>
          <a:prstGeom prst="roundRect">
            <a:avLst>
              <a:gd name="adj" fmla="val 3905"/>
            </a:avLst>
          </a:prstGeom>
          <a:solidFill>
            <a:srgbClr val="FFFDFA"/>
          </a:solidFill>
          <a:ln w="14288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2248" y="2310854"/>
            <a:ext cx="166843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Positive AI Feedback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2248" y="2579117"/>
            <a:ext cx="166843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recognition and directory features received the strongest praise.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02921" y="2172593"/>
            <a:ext cx="1944960" cy="1334021"/>
          </a:xfrm>
          <a:prstGeom prst="roundRect">
            <a:avLst>
              <a:gd name="adj" fmla="val 3905"/>
            </a:avLst>
          </a:prstGeom>
          <a:solidFill>
            <a:srgbClr val="FFFDFA"/>
          </a:solidFill>
          <a:ln w="14288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41182" y="2310854"/>
            <a:ext cx="166843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Suggestion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41182" y="2579117"/>
            <a:ext cx="166843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Testers recommended training more building images to improve accuracy.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6119" y="3692649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Research Findings</a:t>
            </a:r>
            <a:endParaRPr lang="en-US" sz="12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627" y="4078635"/>
            <a:ext cx="186035" cy="18603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99145" y="4072533"/>
            <a:ext cx="221084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 </a:t>
            </a: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struggle to identify</a:t>
            </a: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campus buildings on their own, even after weeks on campus.</a:t>
            </a:r>
            <a:endParaRPr lang="en-US" sz="95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1500" y="4078635"/>
            <a:ext cx="186035" cy="18603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668018" y="4072533"/>
            <a:ext cx="221091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rely on </a:t>
            </a: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friends or Facebook groups</a:t>
            </a: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rather than official university resources.</a:t>
            </a:r>
            <a:endParaRPr lang="en-US" sz="95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0447" y="4078635"/>
            <a:ext cx="186035" cy="18603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36965" y="4072533"/>
            <a:ext cx="221091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strongly </a:t>
            </a: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prefer uploading a photo</a:t>
            </a: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over typing or browsing manually for information.</a:t>
            </a:r>
            <a:endParaRPr lang="en-US" sz="9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BBAF387-BB25-B6D4-C8EB-A6954E9698F4}"/>
                  </a:ext>
                </a:extLst>
              </p14:cNvPr>
              <p14:cNvContentPartPr/>
              <p14:nvPr/>
            </p14:nvContentPartPr>
            <p14:xfrm>
              <a:off x="8089328" y="4935507"/>
              <a:ext cx="459000" cy="720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BBAF387-BB25-B6D4-C8EB-A6954E9698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26328" y="4872507"/>
                <a:ext cx="5846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761BC43-965E-AB8A-973B-7E780D2A40C2}"/>
                  </a:ext>
                </a:extLst>
              </p14:cNvPr>
              <p14:cNvContentPartPr/>
              <p14:nvPr/>
            </p14:nvContentPartPr>
            <p14:xfrm>
              <a:off x="7890248" y="4850547"/>
              <a:ext cx="814680" cy="31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761BC43-965E-AB8A-973B-7E780D2A40C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27608" y="4787907"/>
                <a:ext cx="94032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F39D879-FADD-8139-028D-CCBECD39FD6F}"/>
                  </a:ext>
                </a:extLst>
              </p14:cNvPr>
              <p14:cNvContentPartPr/>
              <p14:nvPr/>
            </p14:nvContentPartPr>
            <p14:xfrm>
              <a:off x="8236928" y="4909587"/>
              <a:ext cx="711000" cy="30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F39D879-FADD-8139-028D-CCBECD39FD6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74288" y="4846947"/>
                <a:ext cx="83664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E57F1F3-0F18-D7F4-B1D4-77FA20836E4B}"/>
                  </a:ext>
                </a:extLst>
              </p14:cNvPr>
              <p14:cNvContentPartPr/>
              <p14:nvPr/>
            </p14:nvContentPartPr>
            <p14:xfrm>
              <a:off x="8295248" y="4916787"/>
              <a:ext cx="699120" cy="910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E57F1F3-0F18-D7F4-B1D4-77FA20836E4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32608" y="4854147"/>
                <a:ext cx="824760" cy="216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22337"/>
            <a:ext cx="848692" cy="188565"/>
          </a:xfrm>
          <a:prstGeom prst="roundRect">
            <a:avLst>
              <a:gd name="adj" fmla="val 22104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0533" y="759544"/>
            <a:ext cx="1157064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SOLUTION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960462"/>
            <a:ext cx="8151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RSU Campus Buddy - Our Solution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82154" y="1596107"/>
            <a:ext cx="84229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"Know your campus. Just snap a photo."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456581"/>
            <a:ext cx="14288" cy="477515"/>
          </a:xfrm>
          <a:prstGeom prst="roundRect">
            <a:avLst>
              <a:gd name="adj" fmla="val 49998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6119" y="207362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RSU Campus Buddy uses </a:t>
            </a: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AI Image Recognition</a:t>
            </a: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instantly identify any campus building from a user-uploaded photo. Within seconds, the system delivers comprehensive, structured information — eliminating the need for manual searches or asking strangers for directions.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6119" y="2610073"/>
            <a:ext cx="1255291" cy="1811015"/>
          </a:xfrm>
          <a:prstGeom prst="roundRect">
            <a:avLst>
              <a:gd name="adj" fmla="val 415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4855" y="2738810"/>
            <a:ext cx="372070" cy="372070"/>
          </a:xfrm>
          <a:prstGeom prst="ellipse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174" y="2841054"/>
            <a:ext cx="167432" cy="1674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4855" y="3234854"/>
            <a:ext cx="99781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Building Name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4855" y="3696965"/>
            <a:ext cx="99781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Instantly recognized from your photo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875383" y="2610073"/>
            <a:ext cx="1255291" cy="1811015"/>
          </a:xfrm>
          <a:prstGeom prst="roundRect">
            <a:avLst>
              <a:gd name="adj" fmla="val 415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004120" y="2738810"/>
            <a:ext cx="372070" cy="372070"/>
          </a:xfrm>
          <a:prstGeom prst="ellipse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6439" y="2841054"/>
            <a:ext cx="167432" cy="1674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04120" y="3234854"/>
            <a:ext cx="9978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Facilities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004120" y="3503116"/>
            <a:ext cx="99781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Rooms, labs, and amenities listed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254648" y="2610073"/>
            <a:ext cx="1255291" cy="1811015"/>
          </a:xfrm>
          <a:prstGeom prst="roundRect">
            <a:avLst>
              <a:gd name="adj" fmla="val 415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383384" y="2738810"/>
            <a:ext cx="372070" cy="372070"/>
          </a:xfrm>
          <a:prstGeom prst="ellipse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5704" y="2841054"/>
            <a:ext cx="167432" cy="1674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383384" y="3234854"/>
            <a:ext cx="99781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Student Clubs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383384" y="3696965"/>
            <a:ext cx="99781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Clubs and organizations in the building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633913" y="2610073"/>
            <a:ext cx="1255365" cy="1811015"/>
          </a:xfrm>
          <a:prstGeom prst="roundRect">
            <a:avLst>
              <a:gd name="adj" fmla="val 415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762649" y="2738810"/>
            <a:ext cx="372070" cy="372070"/>
          </a:xfrm>
          <a:prstGeom prst="ellipse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4968" y="2841054"/>
            <a:ext cx="167432" cy="1674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62649" y="3234854"/>
            <a:ext cx="99789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Opening Hours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762649" y="3696965"/>
            <a:ext cx="99789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Up-to-date operational schedules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013252" y="2610073"/>
            <a:ext cx="1255291" cy="1811015"/>
          </a:xfrm>
          <a:prstGeom prst="roundRect">
            <a:avLst>
              <a:gd name="adj" fmla="val 415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6141988" y="2738810"/>
            <a:ext cx="372070" cy="372070"/>
          </a:xfrm>
          <a:prstGeom prst="ellipse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4307" y="2841054"/>
            <a:ext cx="167432" cy="1674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141988" y="3234854"/>
            <a:ext cx="99781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Floor Information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141988" y="3696965"/>
            <a:ext cx="99781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Per-floor breakdown of spaces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7392516" y="2610073"/>
            <a:ext cx="1255291" cy="1811015"/>
          </a:xfrm>
          <a:prstGeom prst="roundRect">
            <a:avLst>
              <a:gd name="adj" fmla="val 415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7521253" y="2738810"/>
            <a:ext cx="372070" cy="372070"/>
          </a:xfrm>
          <a:prstGeom prst="ellipse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3572" y="2841054"/>
            <a:ext cx="167432" cy="1674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521253" y="3234854"/>
            <a:ext cx="9978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Directions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7521253" y="3503116"/>
            <a:ext cx="99781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Guided navigation to the location</a:t>
            </a:r>
            <a:endParaRPr lang="en-US" sz="9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D668463-BB6A-87A1-5EC6-B24248F630B0}"/>
                  </a:ext>
                </a:extLst>
              </p14:cNvPr>
              <p14:cNvContentPartPr/>
              <p14:nvPr/>
            </p14:nvContentPartPr>
            <p14:xfrm>
              <a:off x="8044688" y="4932987"/>
              <a:ext cx="502560" cy="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D668463-BB6A-87A1-5EC6-B24248F630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82048" y="4806987"/>
                <a:ext cx="6282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8EB3F26-6E88-C2F6-0081-0784C817B4DA}"/>
                  </a:ext>
                </a:extLst>
              </p14:cNvPr>
              <p14:cNvContentPartPr/>
              <p14:nvPr/>
            </p14:nvContentPartPr>
            <p14:xfrm>
              <a:off x="7986008" y="4991307"/>
              <a:ext cx="834120" cy="608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8EB3F26-6E88-C2F6-0081-0784C817B4D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23368" y="4928667"/>
                <a:ext cx="95976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21E4CB1-74D2-646D-7B21-658C13E01F8B}"/>
                  </a:ext>
                </a:extLst>
              </p14:cNvPr>
              <p14:cNvContentPartPr/>
              <p14:nvPr/>
            </p14:nvContentPartPr>
            <p14:xfrm>
              <a:off x="8376968" y="4918390"/>
              <a:ext cx="604800" cy="370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21E4CB1-74D2-646D-7B21-658C13E01F8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313968" y="4855390"/>
                <a:ext cx="73044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1E90046-E142-A1B4-F1A8-18FF1FFC2B30}"/>
                  </a:ext>
                </a:extLst>
              </p14:cNvPr>
              <p14:cNvContentPartPr/>
              <p14:nvPr/>
            </p14:nvContentPartPr>
            <p14:xfrm>
              <a:off x="8812208" y="5011990"/>
              <a:ext cx="179640" cy="165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1E90046-E142-A1B4-F1A8-18FF1FFC2B3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749208" y="4948990"/>
                <a:ext cx="305280" cy="14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48146"/>
            <a:ext cx="1001464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B88E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0533" y="685354"/>
            <a:ext cx="130983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PROTOTYPE DEMO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86271"/>
            <a:ext cx="8151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Prototype Demonstration Flow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96119" y="138239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RSU Campus Buddy prototype follows a clear, intuitive user journey  from landing on the app to accessing detailed building information. Each step maps to a specific functional requirement, ensuring a complete and testable experience.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718" y="1918841"/>
            <a:ext cx="6316489" cy="19409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6119" y="3999309"/>
            <a:ext cx="8151763" cy="495970"/>
          </a:xfrm>
          <a:prstGeom prst="roundRect">
            <a:avLst>
              <a:gd name="adj" fmla="val 10505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92" y="4179094"/>
            <a:ext cx="155004" cy="1239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9071" y="4154239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Functional Requirements Covered:</a:t>
            </a: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FR-01 · FR-03 · FR-05 · FR-06 · FR-07 · FR-08 · FR-09 · FR-11</a:t>
            </a:r>
            <a:endParaRPr lang="en-US" sz="9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A25671D-6881-C7E6-5B1A-F3D2638482E5}"/>
                  </a:ext>
                </a:extLst>
              </p14:cNvPr>
              <p14:cNvContentPartPr/>
              <p14:nvPr/>
            </p14:nvContentPartPr>
            <p14:xfrm>
              <a:off x="8067368" y="4872867"/>
              <a:ext cx="932400" cy="176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A25671D-6881-C7E6-5B1A-F3D2638482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04368" y="4809867"/>
                <a:ext cx="1058040" cy="301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27596"/>
            <a:ext cx="957188" cy="188565"/>
          </a:xfrm>
          <a:prstGeom prst="roundRect">
            <a:avLst>
              <a:gd name="adj" fmla="val 22104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0533" y="564803"/>
            <a:ext cx="1265560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65721"/>
            <a:ext cx="8151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Model Canvas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96119" y="126183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RSU Campus Buddy is designed as a scalable university service with a clear path from pilot deployment to institutional licensing. The model prioritizes user value first, with monetization emerging through university partnerships.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446" y="1798290"/>
            <a:ext cx="5009108" cy="28176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F4156E6-1AA7-E9DB-9109-CC1A62F5669F}"/>
                  </a:ext>
                </a:extLst>
              </p14:cNvPr>
              <p14:cNvContentPartPr/>
              <p14:nvPr/>
            </p14:nvContentPartPr>
            <p14:xfrm rot="-1">
              <a:off x="8103975" y="4879693"/>
              <a:ext cx="808786" cy="50428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F4156E6-1AA7-E9DB-9109-CC1A62F566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-1">
                <a:off x="8041345" y="4817018"/>
                <a:ext cx="934405" cy="1761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725C036-8755-2AE5-A3A9-3759B9586D69}"/>
                  </a:ext>
                </a:extLst>
              </p14:cNvPr>
              <p14:cNvContentPartPr/>
              <p14:nvPr/>
            </p14:nvContentPartPr>
            <p14:xfrm>
              <a:off x="8133248" y="4865307"/>
              <a:ext cx="833760" cy="200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725C036-8755-2AE5-A3A9-3759B9586D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70248" y="4802307"/>
                <a:ext cx="95940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5C52670-B06C-E6C9-DCD1-5B5F8680CB80}"/>
                  </a:ext>
                </a:extLst>
              </p14:cNvPr>
              <p14:cNvContentPartPr/>
              <p14:nvPr/>
            </p14:nvContentPartPr>
            <p14:xfrm>
              <a:off x="8601968" y="4888870"/>
              <a:ext cx="388080" cy="141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5C52670-B06C-E6C9-DCD1-5B5F8680CB8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39328" y="4826230"/>
                <a:ext cx="513720" cy="267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7241"/>
            <a:ext cx="1032644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B88E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0533" y="584448"/>
            <a:ext cx="134101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METRICS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85366"/>
            <a:ext cx="8151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Startup Metrics &amp; User Testing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96119" y="1281485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initial prototype testing delivered strong validation across all key performance indicators. The results demonstrate both technical feasibility and user satisfaction — a critical signal for early-stage product-market fit.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6119" y="1879922"/>
            <a:ext cx="1921669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96119" y="2444279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Buildings Mapped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2712541"/>
            <a:ext cx="192166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Campus buildings trained in the AI recognition model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72792" y="1879922"/>
            <a:ext cx="1921669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72792" y="2444279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Demo Testers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72792" y="2712541"/>
            <a:ext cx="192166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who completed the full prototype flow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49465" y="1879922"/>
            <a:ext cx="1921669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49465" y="2444279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Task Completion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49465" y="2712541"/>
            <a:ext cx="192166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testers completed core tasks successfully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726138" y="1879922"/>
            <a:ext cx="19217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5★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26138" y="2444279"/>
            <a:ext cx="19217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Satisfaction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6138" y="2712541"/>
            <a:ext cx="19217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Positive feedback on AI recognition and directory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6822" y="3248992"/>
            <a:ext cx="4103191" cy="1347267"/>
          </a:xfrm>
          <a:prstGeom prst="roundRect">
            <a:avLst>
              <a:gd name="adj" fmla="val 6629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796" y="3372966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Users Said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796" y="3690789"/>
            <a:ext cx="3855244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"Much faster than searching manually"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AI recognition felt magical"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"Easy to use  even for first-timers"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28046" y="3372966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28046" y="3690789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consistently reported that RSU Campus Buddy was </a:t>
            </a: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faster and more intuitive</a:t>
            </a: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traditional methods of finding campus information. The photo-based approach resonated strongly across all tester profiles.</a:t>
            </a:r>
            <a:endParaRPr lang="en-US" sz="9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BC8DC8A-CD55-CE3D-50CF-2AFC654CD19E}"/>
                  </a:ext>
                </a:extLst>
              </p14:cNvPr>
              <p14:cNvContentPartPr/>
              <p14:nvPr/>
            </p14:nvContentPartPr>
            <p14:xfrm>
              <a:off x="8037488" y="4851627"/>
              <a:ext cx="944280" cy="298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BC8DC8A-CD55-CE3D-50CF-2AFC654CD1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74848" y="4788987"/>
                <a:ext cx="106992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EC2D66C-508E-5631-C1AD-635E156754CC}"/>
                  </a:ext>
                </a:extLst>
              </p14:cNvPr>
              <p14:cNvContentPartPr/>
              <p14:nvPr/>
            </p14:nvContentPartPr>
            <p14:xfrm>
              <a:off x="8104088" y="4969707"/>
              <a:ext cx="907920" cy="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EC2D66C-508E-5631-C1AD-635E156754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41448" y="4843707"/>
                <a:ext cx="10335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11BC484-1F70-5910-17D8-CDCC8739C34E}"/>
                  </a:ext>
                </a:extLst>
              </p14:cNvPr>
              <p14:cNvContentPartPr/>
              <p14:nvPr/>
            </p14:nvContentPartPr>
            <p14:xfrm>
              <a:off x="8111648" y="4970067"/>
              <a:ext cx="816840" cy="457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11BC484-1F70-5910-17D8-CDCC8739C34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8648" y="4907067"/>
                <a:ext cx="942480" cy="171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78941"/>
            <a:ext cx="795933" cy="188565"/>
          </a:xfrm>
          <a:prstGeom prst="roundRect">
            <a:avLst>
              <a:gd name="adj" fmla="val 22104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0533" y="616148"/>
            <a:ext cx="1104305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1706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390650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RSU Campus Buddy is built on a lightweight, modern technology stack designed for rapid prototyping and easy deployment. The architecture centers on Google Teachable Machine for AI recognition, with a Python Flask backend orchestrating data flow between the user interface and the building database.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265090"/>
            <a:ext cx="3839989" cy="21599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43438" y="2249537"/>
            <a:ext cx="400913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643438" y="2567360"/>
            <a:ext cx="4009132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HTML5 &amp; CSS3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JavaScript (interactive UI)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 design for all devices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643438" y="3373487"/>
            <a:ext cx="400913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Backend &amp; AI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43438" y="3691310"/>
            <a:ext cx="4009132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Flask (web server)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Teachable Machine (image classifier)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JSON Database (building records)</a:t>
            </a:r>
            <a:endParaRPr lang="en-US" sz="9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0F4AF09-6666-580E-83B1-4F23A8501ADC}"/>
                  </a:ext>
                </a:extLst>
              </p14:cNvPr>
              <p14:cNvContentPartPr/>
              <p14:nvPr/>
            </p14:nvContentPartPr>
            <p14:xfrm>
              <a:off x="8127488" y="4934787"/>
              <a:ext cx="939240" cy="87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0F4AF09-6666-580E-83B1-4F23A8501A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64488" y="4871787"/>
                <a:ext cx="1064880" cy="213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52562"/>
            <a:ext cx="620539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B88E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0533" y="889769"/>
            <a:ext cx="928911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ROADMAP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09068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Development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66427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RSU Campus Buddy is a living product. Based on user feedback and technical learnings from our prototype, we have defined a clear roadmap to evolve the platform from a capstone project into a full-scale university navigation solution.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340248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49809" y="2340248"/>
            <a:ext cx="14288" cy="372070"/>
          </a:xfrm>
          <a:prstGeom prst="roundRect">
            <a:avLst>
              <a:gd name="adj" fmla="val 49998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17427" y="2200721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63935" y="2223976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20092" y="2836441"/>
            <a:ext cx="167372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1 -AI Accuracy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0092" y="3104704"/>
            <a:ext cx="1673721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 more building images, improve recognition accuracy, and expand coverage to all major campus structures.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26482" y="2340248"/>
            <a:ext cx="14288" cy="372070"/>
          </a:xfrm>
          <a:prstGeom prst="roundRect">
            <a:avLst>
              <a:gd name="adj" fmla="val 49998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94100" y="2200721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40609" y="2223976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696766" y="2836441"/>
            <a:ext cx="167372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2 -Mobile &amp; Maps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6766" y="3298552"/>
            <a:ext cx="1673721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Launch a mobile app version with Google Maps integration for real-time, GPS-assisted outdoor navigation.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03156" y="2340248"/>
            <a:ext cx="14288" cy="372070"/>
          </a:xfrm>
          <a:prstGeom prst="roundRect">
            <a:avLst>
              <a:gd name="adj" fmla="val 49998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70773" y="2200721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17282" y="2223976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773439" y="2836441"/>
            <a:ext cx="167372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3 - Indoor Navigation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439" y="3298552"/>
            <a:ext cx="1673721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indoor floor-by-floor wayfinding for large buildings, helping users locate specific rooms and offices.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79829" y="2340248"/>
            <a:ext cx="14288" cy="372070"/>
          </a:xfrm>
          <a:prstGeom prst="roundRect">
            <a:avLst>
              <a:gd name="adj" fmla="val 49998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47446" y="2200721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93955" y="2223976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850112" y="2836441"/>
            <a:ext cx="167379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4 - Live 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0112" y="3104704"/>
            <a:ext cx="16737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Integrate with the official university database for real-time updates on hours, events, and facility status.</a:t>
            </a:r>
            <a:endParaRPr lang="en-US" sz="9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ACB1116-2108-AB7D-3376-591887342DD2}"/>
                  </a:ext>
                </a:extLst>
              </p14:cNvPr>
              <p14:cNvContentPartPr/>
              <p14:nvPr/>
            </p14:nvContentPartPr>
            <p14:xfrm>
              <a:off x="8067545" y="4884951"/>
              <a:ext cx="893880" cy="1512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ACB1116-2108-AB7D-3376-591887342D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04545" y="4822311"/>
                <a:ext cx="101952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B5A60C6-3478-0CD4-5F27-7A9A5323FF89}"/>
                  </a:ext>
                </a:extLst>
              </p14:cNvPr>
              <p14:cNvContentPartPr/>
              <p14:nvPr/>
            </p14:nvContentPartPr>
            <p14:xfrm>
              <a:off x="9010385" y="4841418"/>
              <a:ext cx="36000" cy="1098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B5A60C6-3478-0CD4-5F27-7A9A5323FF8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47385" y="4778778"/>
                <a:ext cx="161640" cy="23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987" y="1702817"/>
            <a:ext cx="3304952" cy="173786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96119" y="440159"/>
            <a:ext cx="685205" cy="188565"/>
          </a:xfrm>
          <a:prstGeom prst="roundRect">
            <a:avLst>
              <a:gd name="adj" fmla="val 22104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570533" y="477366"/>
            <a:ext cx="99357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496119" y="678284"/>
            <a:ext cx="4722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RSU Campus Buddy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496119" y="1037927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"Know your campus. Just snap a photo."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96119" y="1999059"/>
            <a:ext cx="4722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RSU Campus Buddy transforms campus navigation using AI Image Recognition, making it easier for students, visitors, and staff to explore Rangsit University. What began as a capstone project has the potential to become a lasting institutional tool — one photo at a time.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96119" y="2932435"/>
            <a:ext cx="2299395" cy="922660"/>
          </a:xfrm>
          <a:prstGeom prst="roundRect">
            <a:avLst>
              <a:gd name="adj" fmla="val 564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24855" y="3061171"/>
            <a:ext cx="20419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🎓</a:t>
            </a: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Rangsit University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24855" y="3329434"/>
            <a:ext cx="20419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ICT105 · Fundamental Technology Entrepreneurship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919487" y="2932435"/>
            <a:ext cx="2299395" cy="922660"/>
          </a:xfrm>
          <a:prstGeom prst="roundRect">
            <a:avLst>
              <a:gd name="adj" fmla="val 5647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048223" y="3061171"/>
            <a:ext cx="20419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🤝</a:t>
            </a: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Our Team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048223" y="3329434"/>
            <a:ext cx="20419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Khin Zu Zu Oo · Min Khant Zaw · Phyo Min Khant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96119" y="3979069"/>
            <a:ext cx="4722763" cy="724198"/>
          </a:xfrm>
          <a:prstGeom prst="roundRect">
            <a:avLst>
              <a:gd name="adj" fmla="val 719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24855" y="4107805"/>
            <a:ext cx="44652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❓</a:t>
            </a: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Questions &amp; Answers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24855" y="4376068"/>
            <a:ext cx="44652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welcome your feedback and questions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1000</Words>
  <Application>Microsoft Office PowerPoint</Application>
  <PresentationFormat>On-screen Show (16:9)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Libre Baskerville</vt:lpstr>
      <vt:lpstr>DM Sans Bold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KHIN ZUZUOO</cp:lastModifiedBy>
  <cp:revision>10</cp:revision>
  <dcterms:created xsi:type="dcterms:W3CDTF">2026-07-30T20:08:21Z</dcterms:created>
  <dcterms:modified xsi:type="dcterms:W3CDTF">2026-07-30T20:14:35Z</dcterms:modified>
</cp:coreProperties>
</file>